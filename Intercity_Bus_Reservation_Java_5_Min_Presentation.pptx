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49640" y="1051560"/>
            <a:ext cx="256032" cy="256032"/>
          </a:xfrm>
          <a:prstGeom prst="ellipse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64040" y="1463039"/>
            <a:ext cx="256032" cy="256032"/>
          </a:xfrm>
          <a:prstGeom prst="ellipse">
            <a:avLst/>
          </a:prstGeom>
          <a:solidFill>
            <a:srgbClr val="4BE094"/>
          </a:solidFill>
          <a:ln>
            <a:solidFill>
              <a:srgbClr val="4BE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1874519"/>
            <a:ext cx="256032" cy="256032"/>
          </a:xfrm>
          <a:prstGeom prst="ellipse">
            <a:avLst/>
          </a:prstGeom>
          <a:solidFill>
            <a:srgbClr val="FFC95C"/>
          </a:solidFill>
          <a:ln>
            <a:solidFill>
              <a:srgbClr val="FF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8796528" y="1179576"/>
            <a:ext cx="914400" cy="411480"/>
          </a:xfrm>
          <a:prstGeom prst="line">
            <a:avLst/>
          </a:prstGeom>
          <a:ln w="3810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710928" y="1719072"/>
            <a:ext cx="914400" cy="411480"/>
          </a:xfrm>
          <a:prstGeom prst="line">
            <a:avLst/>
          </a:prstGeom>
          <a:ln w="38100">
            <a:solidFill>
              <a:srgbClr val="4BE0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25328" y="2258568"/>
            <a:ext cx="621792" cy="283464"/>
          </a:xfrm>
          <a:prstGeom prst="line">
            <a:avLst/>
          </a:prstGeom>
          <a:ln w="38100">
            <a:solidFill>
              <a:srgbClr val="FFC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566928"/>
            <a:ext cx="1234440" cy="347472"/>
          </a:xfrm>
          <a:prstGeom prst="roundRect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576072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C"/>
                </a:solidFill>
                <a:latin typeface="Aptos"/>
              </a:rPr>
              <a:t>JAVA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7498079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8FC"/>
                </a:solidFill>
                <a:latin typeface="Aptos"/>
              </a:rPr>
              <a:t>INTERCITY BUS
RESERVATION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154680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6B8CD"/>
                </a:solidFill>
                <a:latin typeface="Aptos"/>
              </a:rPr>
              <a:t>A simple console-based Java solution for searching routes,
checking seats, booking and cancelling tickets.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617720"/>
            <a:ext cx="7269480" cy="987552"/>
          </a:xfrm>
          <a:prstGeom prst="roundRect">
            <a:avLst/>
          </a:prstGeom>
          <a:solidFill>
            <a:srgbClr val="111D30"/>
          </a:solidFill>
          <a:ln>
            <a:solidFill>
              <a:srgbClr val="26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809744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3FF"/>
                </a:solidFill>
                <a:latin typeface="Aptos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73659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Mokkapati Simrit  •  K Yutesh Kumar  •  B Bhanu Shankar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148072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B8CD"/>
                </a:solidFill>
                <a:latin typeface="Aptos"/>
              </a:rPr>
              <a:t>Project Mentor: Rakesh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F849D"/>
                </a:solidFill>
                <a:latin typeface="Aptos"/>
              </a:rPr>
              <a:t>Intercity Bus Reservation System •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3FF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47472"/>
            <a:ext cx="8046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Why this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32688"/>
            <a:ext cx="8961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The problem → the purpose → the result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2B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691640"/>
            <a:ext cx="5257800" cy="4160520"/>
          </a:xfrm>
          <a:prstGeom prst="roundRect">
            <a:avLst/>
          </a:prstGeom>
          <a:solidFill>
            <a:srgbClr val="111D30"/>
          </a:solidFill>
          <a:ln>
            <a:solidFill>
              <a:srgbClr val="29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6973"/>
                </a:solidFill>
                <a:latin typeface="Aptos"/>
              </a:rPr>
              <a:t>THE PROBLEM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505456"/>
            <a:ext cx="109728" cy="109728"/>
          </a:xfrm>
          <a:prstGeom prst="ellipse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242316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8FC"/>
                </a:solidFill>
                <a:latin typeface="Aptos"/>
              </a:rPr>
              <a:t>Manual booking can be slow and difficult to track.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145536"/>
            <a:ext cx="109728" cy="109728"/>
          </a:xfrm>
          <a:prstGeom prst="ellipse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1288" y="306324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8FC"/>
                </a:solidFill>
                <a:latin typeface="Aptos"/>
              </a:rPr>
              <a:t>Passengers need route, schedule and seat information.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785615"/>
            <a:ext cx="109728" cy="109728"/>
          </a:xfrm>
          <a:prstGeom prst="ellipse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1288" y="370332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8FC"/>
                </a:solidFill>
                <a:latin typeface="Aptos"/>
              </a:rPr>
              <a:t>Cancellations and occupancy need reliable records.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4425696"/>
            <a:ext cx="109728" cy="109728"/>
          </a:xfrm>
          <a:prstGeom prst="ellipse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1288" y="434340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8FC"/>
                </a:solidFill>
                <a:latin typeface="Aptos"/>
              </a:rPr>
              <a:t>Operators need a simple way to manage bus 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691640"/>
            <a:ext cx="5303520" cy="4160520"/>
          </a:xfrm>
          <a:prstGeom prst="roundRect">
            <a:avLst/>
          </a:prstGeom>
          <a:solidFill>
            <a:srgbClr val="16263D"/>
          </a:solidFill>
          <a:ln>
            <a:solidFill>
              <a:srgbClr val="2C4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19385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BE094"/>
                </a:solidFill>
                <a:latin typeface="Aptos"/>
              </a:rPr>
              <a:t>OUR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359152"/>
            <a:ext cx="4343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Aptos"/>
              </a:rPr>
              <a:t>One Java program that connects the complete booking flow:</a:t>
            </a:r>
          </a:p>
        </p:txBody>
      </p:sp>
      <p:sp>
        <p:nvSpPr>
          <p:cNvPr id="21" name="Oval 20"/>
          <p:cNvSpPr/>
          <p:nvPr/>
        </p:nvSpPr>
        <p:spPr>
          <a:xfrm>
            <a:off x="6473952" y="3063240"/>
            <a:ext cx="310896" cy="310896"/>
          </a:xfrm>
          <a:prstGeom prst="ellipse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3067812"/>
            <a:ext cx="310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80F1C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3044952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C"/>
                </a:solidFill>
                <a:latin typeface="Aptos"/>
              </a:rPr>
              <a:t>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044952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8CD"/>
                </a:solidFill>
                <a:latin typeface="Aptos"/>
              </a:rPr>
              <a:t>From → To</a:t>
            </a:r>
          </a:p>
        </p:txBody>
      </p:sp>
      <p:sp>
        <p:nvSpPr>
          <p:cNvPr id="25" name="Oval 24"/>
          <p:cNvSpPr/>
          <p:nvPr/>
        </p:nvSpPr>
        <p:spPr>
          <a:xfrm>
            <a:off x="6473952" y="3630168"/>
            <a:ext cx="310896" cy="310896"/>
          </a:xfrm>
          <a:prstGeom prst="ellipse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3634740"/>
            <a:ext cx="310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80F1C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611880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C"/>
                </a:solidFill>
                <a:latin typeface="Aptos"/>
              </a:rPr>
              <a:t>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61188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8CD"/>
                </a:solidFill>
                <a:latin typeface="Aptos"/>
              </a:rPr>
              <a:t>Schedule + seats</a:t>
            </a:r>
          </a:p>
        </p:txBody>
      </p:sp>
      <p:sp>
        <p:nvSpPr>
          <p:cNvPr id="29" name="Oval 28"/>
          <p:cNvSpPr/>
          <p:nvPr/>
        </p:nvSpPr>
        <p:spPr>
          <a:xfrm>
            <a:off x="6473952" y="4197096"/>
            <a:ext cx="310896" cy="310896"/>
          </a:xfrm>
          <a:prstGeom prst="ellipse">
            <a:avLst/>
          </a:prstGeom>
          <a:solidFill>
            <a:srgbClr val="4BE094"/>
          </a:solidFill>
          <a:ln>
            <a:solidFill>
              <a:srgbClr val="4BE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4201668"/>
            <a:ext cx="310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80F1C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178808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C"/>
                </a:solidFill>
                <a:latin typeface="Aptos"/>
              </a:rPr>
              <a:t>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178808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8CD"/>
                </a:solidFill>
                <a:latin typeface="Aptos"/>
              </a:rPr>
              <a:t>Select seat</a:t>
            </a:r>
          </a:p>
        </p:txBody>
      </p:sp>
      <p:sp>
        <p:nvSpPr>
          <p:cNvPr id="33" name="Oval 32"/>
          <p:cNvSpPr/>
          <p:nvPr/>
        </p:nvSpPr>
        <p:spPr>
          <a:xfrm>
            <a:off x="6473952" y="4764024"/>
            <a:ext cx="310896" cy="310896"/>
          </a:xfrm>
          <a:prstGeom prst="ellipse">
            <a:avLst/>
          </a:prstGeom>
          <a:solidFill>
            <a:srgbClr val="4BE094"/>
          </a:solidFill>
          <a:ln>
            <a:solidFill>
              <a:srgbClr val="4BE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4768596"/>
            <a:ext cx="310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80F1C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745736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C"/>
                </a:solidFill>
                <a:latin typeface="Aptos"/>
              </a:rPr>
              <a:t>Manage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745736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8CD"/>
                </a:solidFill>
                <a:latin typeface="Aptos"/>
              </a:rPr>
              <a:t>Cancel / 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9672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F849D"/>
                </a:solidFill>
                <a:latin typeface="Aptos"/>
              </a:rPr>
              <a:t>Intercity Bus Reservation System • Java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3FF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47472"/>
            <a:ext cx="8046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How the booking flow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32688"/>
            <a:ext cx="8961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A 30-second story: input → decision → output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2B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1792" y="1965960"/>
            <a:ext cx="2057400" cy="2240280"/>
          </a:xfrm>
          <a:prstGeom prst="roundRect">
            <a:avLst/>
          </a:prstGeom>
          <a:solidFill>
            <a:srgbClr val="111D30"/>
          </a:solidFill>
          <a:ln>
            <a:solidFill>
              <a:srgbClr val="2B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2194560"/>
            <a:ext cx="804672" cy="347472"/>
          </a:xfrm>
          <a:prstGeom prst="roundRect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203703"/>
            <a:ext cx="8046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C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Aptos"/>
              </a:rPr>
              <a:t>Passenger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1012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name • route • 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06624" y="3090672"/>
            <a:ext cx="246888" cy="0"/>
          </a:xfrm>
          <a:prstGeom prst="line">
            <a:avLst/>
          </a:prstGeom>
          <a:ln w="25400">
            <a:solidFill>
              <a:srgbClr val="4E6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89504" y="1965960"/>
            <a:ext cx="2057400" cy="2240280"/>
          </a:xfrm>
          <a:prstGeom prst="roundRect">
            <a:avLst/>
          </a:prstGeom>
          <a:solidFill>
            <a:srgbClr val="111D30"/>
          </a:solidFill>
          <a:ln>
            <a:solidFill>
              <a:srgbClr val="2B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90672" y="2194560"/>
            <a:ext cx="804672" cy="347472"/>
          </a:xfrm>
          <a:prstGeom prst="roundRect">
            <a:avLst/>
          </a:prstGeom>
          <a:solidFill>
            <a:srgbClr val="4BE094"/>
          </a:solidFill>
          <a:ln>
            <a:solidFill>
              <a:srgbClr val="4BE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90672" y="2203703"/>
            <a:ext cx="8046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C"/>
                </a:solidFill>
                <a:latin typeface="Aptos"/>
              </a:rP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78892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Aptos"/>
              </a:rPr>
              <a:t>Find bus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31012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source • destination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74336" y="3090672"/>
            <a:ext cx="246888" cy="0"/>
          </a:xfrm>
          <a:prstGeom prst="line">
            <a:avLst/>
          </a:prstGeom>
          <a:ln w="25400">
            <a:solidFill>
              <a:srgbClr val="4E6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57216" y="1965960"/>
            <a:ext cx="2057400" cy="2240280"/>
          </a:xfrm>
          <a:prstGeom prst="roundRect">
            <a:avLst/>
          </a:prstGeom>
          <a:solidFill>
            <a:srgbClr val="111D30"/>
          </a:solidFill>
          <a:ln>
            <a:solidFill>
              <a:srgbClr val="2B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58384" y="2194560"/>
            <a:ext cx="804672" cy="347472"/>
          </a:xfrm>
          <a:prstGeom prst="roundRect">
            <a:avLst/>
          </a:prstGeom>
          <a:solidFill>
            <a:srgbClr val="FFC95C"/>
          </a:solidFill>
          <a:ln>
            <a:solidFill>
              <a:srgbClr val="FF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58384" y="2203703"/>
            <a:ext cx="8046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C"/>
                </a:solidFill>
                <a:latin typeface="Aptos"/>
              </a:rPr>
              <a:t>SEAT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78892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Aptos"/>
              </a:rPr>
              <a:t>Check / select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331012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available seat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42048" y="3090672"/>
            <a:ext cx="246888" cy="0"/>
          </a:xfrm>
          <a:prstGeom prst="line">
            <a:avLst/>
          </a:prstGeom>
          <a:ln w="25400">
            <a:solidFill>
              <a:srgbClr val="4E6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24928" y="1965960"/>
            <a:ext cx="2057400" cy="2240280"/>
          </a:xfrm>
          <a:prstGeom prst="roundRect">
            <a:avLst/>
          </a:prstGeom>
          <a:solidFill>
            <a:srgbClr val="111D30"/>
          </a:solidFill>
          <a:ln>
            <a:solidFill>
              <a:srgbClr val="2B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26096" y="2194560"/>
            <a:ext cx="804672" cy="347472"/>
          </a:xfrm>
          <a:prstGeom prst="roundRect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26096" y="2203703"/>
            <a:ext cx="8046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C"/>
                </a:solidFill>
                <a:latin typeface="Aptos"/>
              </a:rP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278892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Aptos"/>
              </a:rPr>
              <a:t>Book or cancel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6096" y="331012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update records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09760" y="3090672"/>
            <a:ext cx="246888" cy="0"/>
          </a:xfrm>
          <a:prstGeom prst="line">
            <a:avLst/>
          </a:prstGeom>
          <a:ln w="25400">
            <a:solidFill>
              <a:srgbClr val="4E6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92640" y="1965960"/>
            <a:ext cx="2057400" cy="2240280"/>
          </a:xfrm>
          <a:prstGeom prst="roundRect">
            <a:avLst/>
          </a:prstGeom>
          <a:solidFill>
            <a:srgbClr val="111D30"/>
          </a:solidFill>
          <a:ln>
            <a:solidFill>
              <a:srgbClr val="2B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93808" y="2194560"/>
            <a:ext cx="804672" cy="347472"/>
          </a:xfrm>
          <a:prstGeom prst="roundRect">
            <a:avLst/>
          </a:prstGeom>
          <a:solidFill>
            <a:srgbClr val="4BE094"/>
          </a:solidFill>
          <a:ln>
            <a:solidFill>
              <a:srgbClr val="4BE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93808" y="2203703"/>
            <a:ext cx="8046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C"/>
                </a:solidFill>
                <a:latin typeface="Aptos"/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278892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Aptos"/>
              </a:rPr>
              <a:t>Ticket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331012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confirmation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4709160"/>
            <a:ext cx="10954512" cy="1078992"/>
          </a:xfrm>
          <a:prstGeom prst="roundRect">
            <a:avLst/>
          </a:prstGeom>
          <a:solidFill>
            <a:srgbClr val="16263D"/>
          </a:solidFill>
          <a:ln>
            <a:solidFill>
              <a:srgbClr val="2B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" y="501091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5D3FF"/>
                </a:solidFill>
                <a:latin typeface="Aptos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49651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Route 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9232" y="501091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E094"/>
                </a:solidFill>
                <a:latin typeface="Aptos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18687" y="49651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Seat availability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2" y="501091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95C"/>
                </a:solidFill>
                <a:latin typeface="Aptos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21807" y="49651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Seat selection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5471" y="501091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5D3FF"/>
                </a:solidFill>
                <a:latin typeface="Aptos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4927" y="49651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Cancellation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8592" y="501091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E094"/>
                </a:solidFill>
                <a:latin typeface="Aptos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96519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Digital ticket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519672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F849D"/>
                </a:solidFill>
                <a:latin typeface="Aptos"/>
              </a:rPr>
              <a:t>Intercity Bus Reservation System • Java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3FF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47472"/>
            <a:ext cx="8046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Java design + required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32688"/>
            <a:ext cx="8961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Keep the implementation small, readable and easy to explain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2B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664208"/>
            <a:ext cx="6492240" cy="4526280"/>
          </a:xfrm>
          <a:prstGeom prst="roundRect">
            <a:avLst/>
          </a:prstGeom>
          <a:solidFill>
            <a:srgbClr val="111D30"/>
          </a:solidFill>
          <a:ln>
            <a:solidFill>
              <a:srgbClr val="2A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019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CORE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5915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6B8CD"/>
                </a:solidFill>
                <a:latin typeface="Aptos"/>
              </a:rPr>
              <a:t>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591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6B8CD"/>
                </a:solidFill>
                <a:latin typeface="Aptos"/>
              </a:rPr>
              <a:t>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5915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6B8CD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4F8FC"/>
                </a:solidFill>
                <a:latin typeface="Consolas"/>
              </a:rPr>
              <a:t>String passengerName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743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BE094"/>
                </a:solidFill>
                <a:latin typeface="Consolas"/>
              </a:rP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432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6B8CD"/>
                </a:solidFill>
                <a:latin typeface="Aptos"/>
              </a:rPr>
              <a:t>Passenger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12724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4F8FC"/>
                </a:solidFill>
                <a:latin typeface="Consolas"/>
              </a:rPr>
              <a:t>String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127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BE094"/>
                </a:solidFill>
                <a:latin typeface="Consolas"/>
              </a:rPr>
              <a:t>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12724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6B8CD"/>
                </a:solidFill>
                <a:latin typeface="Aptos"/>
              </a:rPr>
              <a:t>Starting 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11296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4F8FC"/>
                </a:solidFill>
                <a:latin typeface="Consolas"/>
              </a:rPr>
              <a:t>String destination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51129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BE094"/>
                </a:solidFill>
                <a:latin typeface="Consolas"/>
              </a:rPr>
              <a:t>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511296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6B8CD"/>
                </a:solidFill>
                <a:latin typeface="Aptos"/>
              </a:rPr>
              <a:t>Ending 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895344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4F8FC"/>
                </a:solidFill>
                <a:latin typeface="Consolas"/>
              </a:rPr>
              <a:t>String travelDate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89534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BE094"/>
                </a:solidFill>
                <a:latin typeface="Consolas"/>
              </a:rPr>
              <a:t>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6B8CD"/>
                </a:solidFill>
                <a:latin typeface="Aptos"/>
              </a:rPr>
              <a:t>Journey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27939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4F8FC"/>
                </a:solidFill>
                <a:latin typeface="Consolas"/>
              </a:rPr>
              <a:t>int seatNo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27939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BE094"/>
                </a:solidFill>
                <a:latin typeface="Consolas"/>
              </a:rPr>
              <a:t>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27939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6B8CD"/>
                </a:solidFill>
                <a:latin typeface="Aptos"/>
              </a:rPr>
              <a:t>Selected seat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66344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4F8FC"/>
                </a:solidFill>
                <a:latin typeface="Consolas"/>
              </a:rPr>
              <a:t>double fare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6634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BE094"/>
                </a:solidFill>
                <a:latin typeface="Consolas"/>
              </a:rPr>
              <a:t>double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66344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6B8CD"/>
                </a:solidFill>
                <a:latin typeface="Aptos"/>
              </a:rPr>
              <a:t>Ticket 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04748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4F8FC"/>
                </a:solidFill>
                <a:latin typeface="Consolas"/>
              </a:rPr>
              <a:t>boolean booked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0474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BE094"/>
                </a:solidFill>
                <a:latin typeface="Consolas"/>
              </a:rPr>
              <a:t>boolean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04748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6B8CD"/>
                </a:solidFill>
                <a:latin typeface="Aptos"/>
              </a:rPr>
              <a:t>Booking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431536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4F8FC"/>
                </a:solidFill>
                <a:latin typeface="Consolas"/>
              </a:rPr>
              <a:t>int availableSeats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4315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4BE094"/>
                </a:solidFill>
                <a:latin typeface="Consolas"/>
              </a:rPr>
              <a:t>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431536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6B8CD"/>
                </a:solidFill>
                <a:latin typeface="Aptos"/>
              </a:rPr>
              <a:t>Seats remaining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24927" y="1664208"/>
            <a:ext cx="4096512" cy="4526280"/>
          </a:xfrm>
          <a:prstGeom prst="roundRect">
            <a:avLst/>
          </a:prstGeom>
          <a:solidFill>
            <a:srgbClr val="16263D"/>
          </a:solidFill>
          <a:ln>
            <a:solidFill>
              <a:srgbClr val="2D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99248" y="190195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BE094"/>
                </a:solidFill>
                <a:latin typeface="Aptos"/>
              </a:rPr>
              <a:t>JAVA 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242316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Consolas"/>
              </a:rPr>
              <a:t>Scanner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2697479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6B8CD"/>
                </a:solidFill>
                <a:latin typeface="Aptos"/>
              </a:rPr>
              <a:t>Read user 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304495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Consolas"/>
              </a:rPr>
              <a:t>if / else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9248" y="3319272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6B8CD"/>
                </a:solidFill>
                <a:latin typeface="Aptos"/>
              </a:rPr>
              <a:t>Validate choices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99248" y="3666744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Consolas"/>
              </a:rPr>
              <a:t>switch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3941063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6B8CD"/>
                </a:solidFill>
                <a:latin typeface="Aptos"/>
              </a:rPr>
              <a:t>Menu 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4288536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Consolas"/>
              </a:rPr>
              <a:t>Array / ArrayList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99248" y="4562855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6B8CD"/>
                </a:solidFill>
                <a:latin typeface="Aptos"/>
              </a:rPr>
              <a:t>Store buses or seats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9248" y="4910328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Consolas"/>
              </a:rPr>
              <a:t>Methods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5184648"/>
            <a:ext cx="3154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6B8CD"/>
                </a:solidFill>
                <a:latin typeface="Aptos"/>
              </a:rPr>
              <a:t>Separate booking tasks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519672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F849D"/>
                </a:solidFill>
                <a:latin typeface="Aptos"/>
              </a:rPr>
              <a:t>Intercity Bus Reservation System • Java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3FF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47472"/>
            <a:ext cx="8046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Core Java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32688"/>
            <a:ext cx="8961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A compact version is enough to demonstrate the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48056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C"/>
                </a:solidFill>
                <a:latin typeface="Aptos"/>
              </a:rPr>
              <a:t>STUDENT 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2B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1792" y="1627632"/>
            <a:ext cx="7360920" cy="4526280"/>
          </a:xfrm>
          <a:prstGeom prst="roundRect">
            <a:avLst/>
          </a:prstGeom>
          <a:solidFill>
            <a:srgbClr val="0A1422"/>
          </a:solidFill>
          <a:ln>
            <a:solidFill>
              <a:srgbClr val="2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9019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883664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A6B8CD"/>
                </a:solidFill>
                <a:latin typeface="Consolas"/>
              </a:rPr>
              <a:t>Scanner sc = new Scanner(System.in);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2598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107692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35D3FF"/>
                </a:solidFill>
                <a:latin typeface="Consolas"/>
              </a:rPr>
              <a:t>String passengerName, source, destination;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35000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331720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35D3FF"/>
                </a:solidFill>
                <a:latin typeface="Consolas"/>
              </a:rPr>
              <a:t>String travelDate;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57403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555748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35D3FF"/>
                </a:solidFill>
                <a:latin typeface="Consolas"/>
              </a:rPr>
              <a:t>int seatNo, availableSeats = 40;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7980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779776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35D3FF"/>
                </a:solidFill>
                <a:latin typeface="Consolas"/>
              </a:rPr>
              <a:t>double fare = 650.0;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02209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003804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35D3FF"/>
                </a:solidFill>
                <a:latin typeface="Consolas"/>
              </a:rPr>
              <a:t>boolean booked = false;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2461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227832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347014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451860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FFC95C"/>
                </a:solidFill>
                <a:latin typeface="Consolas"/>
              </a:rPr>
              <a:t>System.out.print("From: ");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69417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675887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A6B8CD"/>
                </a:solidFill>
                <a:latin typeface="Consolas"/>
              </a:rPr>
              <a:t>source = sc.nextLine();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91820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899916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FFC95C"/>
                </a:solidFill>
                <a:latin typeface="Consolas"/>
              </a:rPr>
              <a:t>System.out.print("To: ");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14223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123944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A6B8CD"/>
                </a:solidFill>
                <a:latin typeface="Consolas"/>
              </a:rPr>
              <a:t>destination = sc.nextLine();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436626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347972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45902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572000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4BE094"/>
                </a:solidFill>
                <a:latin typeface="Consolas"/>
              </a:rPr>
              <a:t>if (availableSeats &gt; 0)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481431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4796028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FFC95C"/>
                </a:solidFill>
                <a:latin typeface="Consolas"/>
              </a:rPr>
              <a:t>    System.out.print("Seat number: ");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03834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5020056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A6B8CD"/>
                </a:solidFill>
                <a:latin typeface="Consolas"/>
              </a:rPr>
              <a:t>    seatNo = sc.nextInt();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526237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5244083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4BE094"/>
                </a:solidFill>
                <a:latin typeface="Consolas"/>
              </a:rPr>
              <a:t>    booked = true;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" y="548640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8448" y="5468112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A6B8CD"/>
                </a:solidFill>
                <a:latin typeface="Consolas"/>
              </a:rPr>
              <a:t>    availableSeats--;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571042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8448" y="5692140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FFC95C"/>
                </a:solidFill>
                <a:latin typeface="Consolas"/>
              </a:rPr>
              <a:t>    System.out.println("Ticket booked!");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" y="593445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06781"/>
                </a:solidFill>
                <a:latin typeface="Consolas"/>
              </a:rPr>
              <a:t>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8448" y="5916168"/>
            <a:ext cx="6263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A6B8CD"/>
                </a:solidFill>
                <a:latin typeface="Consolas"/>
              </a:rPr>
              <a:t>}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11312" y="1627632"/>
            <a:ext cx="3310128" cy="1280160"/>
          </a:xfrm>
          <a:prstGeom prst="roundRect">
            <a:avLst/>
          </a:prstGeom>
          <a:solidFill>
            <a:srgbClr val="111D30"/>
          </a:solidFill>
          <a:ln>
            <a:solidFill>
              <a:srgbClr val="2A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85632" y="184708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1  INPUT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21945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C"/>
                </a:solidFill>
                <a:latin typeface="Aptos"/>
              </a:rPr>
              <a:t>Read route + passenger details.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11312" y="3090672"/>
            <a:ext cx="3310128" cy="1280160"/>
          </a:xfrm>
          <a:prstGeom prst="roundRect">
            <a:avLst/>
          </a:prstGeom>
          <a:solidFill>
            <a:srgbClr val="111D30"/>
          </a:solidFill>
          <a:ln>
            <a:solidFill>
              <a:srgbClr val="2A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85632" y="331012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E094"/>
                </a:solidFill>
                <a:latin typeface="Aptos"/>
              </a:rPr>
              <a:t>2  VALIDATE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365760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C"/>
                </a:solidFill>
                <a:latin typeface="Aptos"/>
              </a:rPr>
              <a:t>Check whether seats are available.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11312" y="4553712"/>
            <a:ext cx="3310128" cy="1280160"/>
          </a:xfrm>
          <a:prstGeom prst="roundRect">
            <a:avLst/>
          </a:prstGeom>
          <a:solidFill>
            <a:srgbClr val="111D30"/>
          </a:solidFill>
          <a:ln>
            <a:solidFill>
              <a:srgbClr val="2A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85632" y="477316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C95C"/>
                </a:solidFill>
                <a:latin typeface="Aptos"/>
              </a:rPr>
              <a:t>3  UPDATE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512064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C"/>
                </a:solidFill>
                <a:latin typeface="Aptos"/>
              </a:rPr>
              <a:t>Book seat and reduce availableSeats.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6519672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F849D"/>
                </a:solidFill>
                <a:latin typeface="Aptos"/>
              </a:rPr>
              <a:t>Intercity Bus Reservation System • 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3FF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47472"/>
            <a:ext cx="8046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What we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32688"/>
            <a:ext cx="8961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Simple demo output + clear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48056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C"/>
                </a:solidFill>
                <a:latin typeface="Aptos"/>
              </a:rPr>
              <a:t>STUDENT 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353312"/>
            <a:ext cx="10972800" cy="0"/>
          </a:xfrm>
          <a:prstGeom prst="line">
            <a:avLst/>
          </a:prstGeom>
          <a:ln w="12700">
            <a:solidFill>
              <a:srgbClr val="2B4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691640"/>
            <a:ext cx="5577840" cy="4160520"/>
          </a:xfrm>
          <a:prstGeom prst="roundRect">
            <a:avLst/>
          </a:prstGeom>
          <a:solidFill>
            <a:srgbClr val="0A1422"/>
          </a:solidFill>
          <a:ln>
            <a:solidFill>
              <a:srgbClr val="2B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2688" y="1938528"/>
            <a:ext cx="1417320" cy="347472"/>
          </a:xfrm>
          <a:prstGeom prst="roundRect">
            <a:avLst/>
          </a:prstGeom>
          <a:solidFill>
            <a:srgbClr val="4BE094"/>
          </a:solidFill>
          <a:ln>
            <a:solidFill>
              <a:srgbClr val="4BE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C"/>
                </a:solidFill>
                <a:latin typeface="Aptos"/>
              </a:rPr>
              <a:t>SAMPLE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26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35D3FF"/>
                </a:solidFill>
                <a:latin typeface="Consolas"/>
              </a:rPr>
              <a:t>=== INTERCITY BUS RESERVATION ===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98064"/>
            <a:ext cx="4526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4F8FC"/>
                </a:solidFill>
                <a:latin typeface="Consolas"/>
              </a:rPr>
              <a:t>From: Hyderabad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08960"/>
            <a:ext cx="4526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4F8FC"/>
                </a:solidFill>
                <a:latin typeface="Consolas"/>
              </a:rPr>
              <a:t>To: Vijayawada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19856"/>
            <a:ext cx="4526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4F8FC"/>
                </a:solidFill>
                <a:latin typeface="Consolas"/>
              </a:rPr>
              <a:t>Available seats: 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30752"/>
            <a:ext cx="4526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4F8FC"/>
                </a:solidFill>
                <a:latin typeface="Consolas"/>
              </a:rPr>
              <a:t>Seat number: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41648"/>
            <a:ext cx="4526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4F8FC"/>
                </a:solidFill>
                <a:latin typeface="Consolas"/>
              </a:rPr>
              <a:t>Fare: Rs. 650.0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52544"/>
            <a:ext cx="4526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663440"/>
            <a:ext cx="4526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4BE094"/>
                </a:solidFill>
                <a:latin typeface="Consolas"/>
              </a:rPr>
              <a:t>✓ Ticket booked successfully!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74336"/>
            <a:ext cx="4526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F4F8FC"/>
                </a:solidFill>
                <a:latin typeface="Consolas"/>
              </a:rPr>
              <a:t>Remaining seats: 39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1691640"/>
            <a:ext cx="4956048" cy="4160520"/>
          </a:xfrm>
          <a:prstGeom prst="roundRect">
            <a:avLst/>
          </a:prstGeom>
          <a:solidFill>
            <a:srgbClr val="111D30"/>
          </a:solidFill>
          <a:ln>
            <a:solidFill>
              <a:srgbClr val="2A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76288" y="19385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FINAL TAKEAWAY</a:t>
            </a:r>
          </a:p>
        </p:txBody>
      </p:sp>
      <p:sp>
        <p:nvSpPr>
          <p:cNvPr id="22" name="Oval 21"/>
          <p:cNvSpPr/>
          <p:nvPr/>
        </p:nvSpPr>
        <p:spPr>
          <a:xfrm>
            <a:off x="6876288" y="2532888"/>
            <a:ext cx="109728" cy="109728"/>
          </a:xfrm>
          <a:prstGeom prst="ellipse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4888" y="2450592"/>
            <a:ext cx="3794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4F8FC"/>
                </a:solidFill>
                <a:latin typeface="Aptos"/>
              </a:rPr>
              <a:t>Java handles the complete basic booking logic.</a:t>
            </a:r>
          </a:p>
        </p:txBody>
      </p:sp>
      <p:sp>
        <p:nvSpPr>
          <p:cNvPr id="24" name="Oval 23"/>
          <p:cNvSpPr/>
          <p:nvPr/>
        </p:nvSpPr>
        <p:spPr>
          <a:xfrm>
            <a:off x="6876288" y="3172968"/>
            <a:ext cx="109728" cy="109728"/>
          </a:xfrm>
          <a:prstGeom prst="ellipse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04888" y="3090672"/>
            <a:ext cx="3794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4F8FC"/>
                </a:solidFill>
                <a:latin typeface="Aptos"/>
              </a:rPr>
              <a:t>Variables store passenger, route, seat and fare data.</a:t>
            </a:r>
          </a:p>
        </p:txBody>
      </p:sp>
      <p:sp>
        <p:nvSpPr>
          <p:cNvPr id="26" name="Oval 25"/>
          <p:cNvSpPr/>
          <p:nvPr/>
        </p:nvSpPr>
        <p:spPr>
          <a:xfrm>
            <a:off x="6876288" y="3813048"/>
            <a:ext cx="109728" cy="109728"/>
          </a:xfrm>
          <a:prstGeom prst="ellipse">
            <a:avLst/>
          </a:prstGeom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04888" y="3730752"/>
            <a:ext cx="3794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4F8FC"/>
                </a:solidFill>
                <a:latin typeface="Aptos"/>
              </a:rPr>
              <a:t>Methods and collections can expand the system later.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44398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E094"/>
                </a:solidFill>
                <a:latin typeface="Aptos"/>
              </a:rPr>
              <a:t>NEXT STEP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4782312"/>
            <a:ext cx="3886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Aptos"/>
              </a:rPr>
              <a:t>Database + login + GUI + payment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5532120"/>
            <a:ext cx="1143000" cy="347472"/>
          </a:xfrm>
          <a:prstGeom prst="roundRect">
            <a:avLst/>
          </a:prstGeom>
          <a:solidFill>
            <a:srgbClr val="FFC95C"/>
          </a:solidFill>
          <a:ln>
            <a:solidFill>
              <a:srgbClr val="FF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0" y="5541264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80F1C"/>
                </a:solidFill>
                <a:latin typeface="Aptos"/>
              </a:rPr>
              <a:t>THANK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9672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F849D"/>
                </a:solidFill>
                <a:latin typeface="Aptos"/>
              </a:rPr>
              <a:t>Intercity Bus Reservation System •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563</Words>
  <Application>Microsoft Office PowerPoint</Application>
  <PresentationFormat>Widescreen</PresentationFormat>
  <Paragraphs>170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surya babu</cp:lastModifiedBy>
  <cp:revision>2</cp:revision>
  <dcterms:created xsi:type="dcterms:W3CDTF">2013-01-27T09:14:16Z</dcterms:created>
  <dcterms:modified xsi:type="dcterms:W3CDTF">2026-09-21T07:38:02Z</dcterms:modified>
  <cp:category/>
</cp:coreProperties>
</file>